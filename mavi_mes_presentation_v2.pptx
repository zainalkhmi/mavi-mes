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9" r:id="rId3"/>
    <p:sldId id="270" r:id="rId4"/>
    <p:sldId id="271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72" r:id="rId16"/>
    <p:sldId id="267" r:id="rId17"/>
    <p:sldId id="268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52" y="2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01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SMART FACTORY OPERATIONAL DECK</a:t>
            </a:r>
          </a:p>
          <a:p>
            <a:pPr algn="l">
              <a:spcAft>
                <a:spcPts val="1000"/>
              </a:spcAft>
              <a:defRPr sz="4400" b="1">
                <a:solidFill>
                  <a:srgbClr val="FFFFFF"/>
                </a:solidFill>
                <a:latin typeface="Arial"/>
              </a:defRPr>
            </a:pPr>
            <a:r>
              <a:t>Mavi-MES: Composable Application Suites</a:t>
            </a:r>
          </a:p>
          <a:p>
            <a:pPr algn="l">
              <a:defRPr sz="1800">
                <a:solidFill>
                  <a:srgbClr val="F0F9FF"/>
                </a:solidFill>
                <a:latin typeface="Arial"/>
              </a:defRPr>
            </a:pPr>
            <a:r>
              <a:t>End-to-End Operational Guide connecting Warehouse Ingestion, Production Execution, Andon Escalations, QMS Inspections, and OEE Leadership Analytics.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2C07A5-808F-4E25-9261-5D6094532A3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561" t="4245" b="4750"/>
          <a:stretch/>
        </p:blipFill>
        <p:spPr>
          <a:xfrm>
            <a:off x="364066" y="1202266"/>
            <a:ext cx="6326371" cy="459740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BBDFAC-82E3-408C-B595-1308DA107931}"/>
              </a:ext>
            </a:extLst>
          </p:cNvPr>
          <p:cNvSpPr txBox="1"/>
          <p:nvPr/>
        </p:nvSpPr>
        <p:spPr>
          <a:xfrm>
            <a:off x="6690437" y="518067"/>
            <a:ext cx="49784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n-NO" b="1" dirty="0"/>
              <a:t>Dorong keputusan yang berdampak besar dengan data operasional real-time</a:t>
            </a:r>
          </a:p>
          <a:p>
            <a:endParaRPr lang="nn-NO" dirty="0"/>
          </a:p>
          <a:p>
            <a:r>
              <a:rPr lang="nn-NO" b="1" dirty="0"/>
              <a:t>Apa yang dapat dilakukan oleh aplikasi-aplikasi ini untuk Anda?</a:t>
            </a:r>
            <a:endParaRPr lang="nn-NO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nn-NO" dirty="0"/>
              <a:t>Dapatkan visibilitas real-time terhadap proses produksi</a:t>
            </a:r>
          </a:p>
          <a:p>
            <a:pPr lvl="1"/>
            <a:endParaRPr lang="nn-NO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nn-NO" dirty="0"/>
              <a:t>Tingkatkan produktivitas dengan peringatan real-time dan analisis kinerja</a:t>
            </a:r>
          </a:p>
          <a:p>
            <a:pPr lvl="1"/>
            <a:endParaRPr lang="nn-NO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nn-NO" dirty="0"/>
              <a:t>Pantau mesin, perakitan (assembly), dan proses di sepanjang lini produksi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DF0BD7-5D7F-41B6-8E14-BAEAE9BD502D}"/>
              </a:ext>
            </a:extLst>
          </p:cNvPr>
          <p:cNvSpPr txBox="1"/>
          <p:nvPr/>
        </p:nvSpPr>
        <p:spPr>
          <a:xfrm>
            <a:off x="364066" y="5180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b="1" i="0" dirty="0">
                <a:solidFill>
                  <a:srgbClr val="194F91"/>
                </a:solidFill>
                <a:effectLst/>
                <a:latin typeface="Messina"/>
              </a:rPr>
              <a:t>Production Management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721756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A8920B-A405-4D38-80EC-CF7DDBEA42F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949"/>
          <a:stretch/>
        </p:blipFill>
        <p:spPr>
          <a:xfrm>
            <a:off x="1" y="956734"/>
            <a:ext cx="6883400" cy="54337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98110A-5DBC-4162-884E-7C4C281472E9}"/>
              </a:ext>
            </a:extLst>
          </p:cNvPr>
          <p:cNvSpPr txBox="1"/>
          <p:nvPr/>
        </p:nvSpPr>
        <p:spPr>
          <a:xfrm>
            <a:off x="6664740" y="887399"/>
            <a:ext cx="47751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b="1" dirty="0" err="1"/>
              <a:t>Lacak</a:t>
            </a:r>
            <a:r>
              <a:rPr lang="en-ID" b="1" dirty="0"/>
              <a:t> material </a:t>
            </a:r>
            <a:r>
              <a:rPr lang="en-ID" b="1" dirty="0" err="1"/>
              <a:t>saat</a:t>
            </a:r>
            <a:r>
              <a:rPr lang="en-ID" b="1" dirty="0"/>
              <a:t> </a:t>
            </a:r>
            <a:r>
              <a:rPr lang="en-ID" b="1" dirty="0" err="1"/>
              <a:t>bergerak</a:t>
            </a:r>
            <a:r>
              <a:rPr lang="en-ID" b="1" dirty="0"/>
              <a:t> di </a:t>
            </a:r>
            <a:r>
              <a:rPr lang="en-ID" b="1" dirty="0" err="1"/>
              <a:t>sepanjang</a:t>
            </a:r>
            <a:r>
              <a:rPr lang="en-ID" b="1" dirty="0"/>
              <a:t> proses </a:t>
            </a:r>
            <a:r>
              <a:rPr lang="en-ID" b="1" dirty="0" err="1"/>
              <a:t>produksi</a:t>
            </a:r>
            <a:endParaRPr lang="en-ID" b="1" dirty="0"/>
          </a:p>
          <a:p>
            <a:endParaRPr lang="en-ID" dirty="0"/>
          </a:p>
          <a:p>
            <a:r>
              <a:rPr lang="en-ID" b="1" dirty="0" err="1"/>
              <a:t>Apa</a:t>
            </a:r>
            <a:r>
              <a:rPr lang="en-ID" b="1" dirty="0"/>
              <a:t> yang </a:t>
            </a:r>
            <a:r>
              <a:rPr lang="en-ID" b="1" dirty="0" err="1"/>
              <a:t>dapat</a:t>
            </a:r>
            <a:r>
              <a:rPr lang="en-ID" b="1" dirty="0"/>
              <a:t> </a:t>
            </a:r>
            <a:r>
              <a:rPr lang="en-ID" b="1" dirty="0" err="1"/>
              <a:t>dilakukan</a:t>
            </a:r>
            <a:r>
              <a:rPr lang="en-ID" b="1" dirty="0"/>
              <a:t> oleh </a:t>
            </a:r>
            <a:r>
              <a:rPr lang="en-ID" b="1" dirty="0" err="1"/>
              <a:t>aplikasi-aplikasi</a:t>
            </a:r>
            <a:r>
              <a:rPr lang="en-ID" b="1" dirty="0"/>
              <a:t> </a:t>
            </a:r>
            <a:r>
              <a:rPr lang="en-ID" b="1" dirty="0" err="1"/>
              <a:t>ini</a:t>
            </a:r>
            <a:r>
              <a:rPr lang="en-ID" b="1" dirty="0"/>
              <a:t> </a:t>
            </a:r>
            <a:r>
              <a:rPr lang="en-ID" b="1" dirty="0" err="1"/>
              <a:t>untuk</a:t>
            </a:r>
            <a:r>
              <a:rPr lang="en-ID" b="1" dirty="0"/>
              <a:t> Anda?</a:t>
            </a:r>
          </a:p>
          <a:p>
            <a:endParaRPr lang="en-ID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ID" dirty="0" err="1"/>
              <a:t>Sediakan</a:t>
            </a:r>
            <a:r>
              <a:rPr lang="en-ID" dirty="0"/>
              <a:t> status </a:t>
            </a:r>
            <a:r>
              <a:rPr lang="en-ID" dirty="0" err="1"/>
              <a:t>tingkat</a:t>
            </a:r>
            <a:r>
              <a:rPr lang="en-ID" dirty="0"/>
              <a:t> </a:t>
            </a:r>
            <a:r>
              <a:rPr lang="en-ID" dirty="0" err="1"/>
              <a:t>persediaan</a:t>
            </a:r>
            <a:r>
              <a:rPr lang="en-ID" dirty="0"/>
              <a:t> (inventory) </a:t>
            </a:r>
            <a:r>
              <a:rPr lang="en-ID" dirty="0" err="1"/>
              <a:t>secara</a:t>
            </a:r>
            <a:r>
              <a:rPr lang="en-ID" dirty="0"/>
              <a:t> real-time</a:t>
            </a:r>
          </a:p>
          <a:p>
            <a:pPr lvl="1"/>
            <a:endParaRPr lang="en-ID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ID" dirty="0" err="1"/>
              <a:t>Tingkatkan</a:t>
            </a:r>
            <a:r>
              <a:rPr lang="en-ID" dirty="0"/>
              <a:t> </a:t>
            </a:r>
            <a:r>
              <a:rPr lang="en-ID" dirty="0" err="1"/>
              <a:t>visibilitas</a:t>
            </a:r>
            <a:r>
              <a:rPr lang="en-ID" dirty="0"/>
              <a:t> </a:t>
            </a:r>
            <a:r>
              <a:rPr lang="en-ID" dirty="0" err="1"/>
              <a:t>aliran</a:t>
            </a:r>
            <a:r>
              <a:rPr lang="en-ID" dirty="0"/>
              <a:t> material (material flow)</a:t>
            </a:r>
          </a:p>
          <a:p>
            <a:pPr lvl="1"/>
            <a:endParaRPr lang="en-ID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ID" dirty="0" err="1"/>
              <a:t>Prediksi</a:t>
            </a:r>
            <a:r>
              <a:rPr lang="en-ID" dirty="0"/>
              <a:t> </a:t>
            </a:r>
            <a:r>
              <a:rPr lang="en-ID" dirty="0" err="1"/>
              <a:t>tingkat</a:t>
            </a:r>
            <a:r>
              <a:rPr lang="en-ID" dirty="0"/>
              <a:t> </a:t>
            </a:r>
            <a:r>
              <a:rPr lang="en-ID" dirty="0" err="1"/>
              <a:t>persediaan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mengeliminasi</a:t>
            </a:r>
            <a:r>
              <a:rPr lang="en-ID" dirty="0"/>
              <a:t> </a:t>
            </a:r>
            <a:r>
              <a:rPr lang="en-ID" dirty="0" err="1"/>
              <a:t>kehabisan</a:t>
            </a:r>
            <a:r>
              <a:rPr lang="en-ID" dirty="0"/>
              <a:t> </a:t>
            </a:r>
            <a:r>
              <a:rPr lang="en-ID" dirty="0" err="1"/>
              <a:t>stok</a:t>
            </a:r>
            <a:r>
              <a:rPr lang="en-ID" dirty="0"/>
              <a:t> (stock-outs)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02489-FEAE-4D81-9603-682DB9CAF28C}"/>
              </a:ext>
            </a:extLst>
          </p:cNvPr>
          <p:cNvSpPr txBox="1"/>
          <p:nvPr/>
        </p:nvSpPr>
        <p:spPr>
          <a:xfrm>
            <a:off x="364066" y="5180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b="1" i="0" dirty="0">
                <a:solidFill>
                  <a:srgbClr val="194F91"/>
                </a:solidFill>
                <a:effectLst/>
                <a:latin typeface="Messina"/>
              </a:rPr>
              <a:t>Inventory  Management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755859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D1474C5-7052-46C1-81FB-6BA80C48E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6074" y="1376089"/>
            <a:ext cx="6689503" cy="49348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6D996A-D296-4D39-8512-299E00FD5AA2}"/>
              </a:ext>
            </a:extLst>
          </p:cNvPr>
          <p:cNvSpPr txBox="1"/>
          <p:nvPr/>
        </p:nvSpPr>
        <p:spPr>
          <a:xfrm>
            <a:off x="5506278" y="916364"/>
            <a:ext cx="651013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b="1" dirty="0" err="1"/>
              <a:t>Pastikan</a:t>
            </a:r>
            <a:r>
              <a:rPr lang="en-ID" b="1" dirty="0"/>
              <a:t> </a:t>
            </a:r>
            <a:r>
              <a:rPr lang="en-ID" b="1" dirty="0" err="1"/>
              <a:t>kualitas</a:t>
            </a:r>
            <a:r>
              <a:rPr lang="en-ID" b="1" dirty="0"/>
              <a:t> di </a:t>
            </a:r>
            <a:r>
              <a:rPr lang="en-ID" b="1" dirty="0" err="1"/>
              <a:t>setiap</a:t>
            </a:r>
            <a:r>
              <a:rPr lang="en-ID" b="1" dirty="0"/>
              <a:t> </a:t>
            </a:r>
            <a:r>
              <a:rPr lang="en-ID" b="1" dirty="0" err="1"/>
              <a:t>tahapan</a:t>
            </a:r>
            <a:r>
              <a:rPr lang="en-ID" b="1" dirty="0"/>
              <a:t> </a:t>
            </a:r>
            <a:r>
              <a:rPr lang="en-ID" b="1" dirty="0" err="1"/>
              <a:t>produksi</a:t>
            </a:r>
            <a:r>
              <a:rPr lang="en-ID" b="1" dirty="0"/>
              <a:t> Anda</a:t>
            </a:r>
            <a:endParaRPr lang="en-ID" dirty="0"/>
          </a:p>
          <a:p>
            <a:r>
              <a:rPr lang="en-ID" b="1" dirty="0" err="1"/>
              <a:t>Apa</a:t>
            </a:r>
            <a:r>
              <a:rPr lang="en-ID" b="1" dirty="0"/>
              <a:t> yang </a:t>
            </a:r>
            <a:r>
              <a:rPr lang="en-ID" b="1" dirty="0" err="1"/>
              <a:t>dapat</a:t>
            </a:r>
            <a:r>
              <a:rPr lang="en-ID" b="1" dirty="0"/>
              <a:t> </a:t>
            </a:r>
            <a:r>
              <a:rPr lang="en-ID" b="1" dirty="0" err="1"/>
              <a:t>dilakukan</a:t>
            </a:r>
            <a:r>
              <a:rPr lang="en-ID" b="1" dirty="0"/>
              <a:t> oleh </a:t>
            </a:r>
            <a:r>
              <a:rPr lang="en-ID" b="1" dirty="0" err="1"/>
              <a:t>aplikasi-aplikasi</a:t>
            </a:r>
            <a:r>
              <a:rPr lang="en-ID" b="1" dirty="0"/>
              <a:t> </a:t>
            </a:r>
            <a:r>
              <a:rPr lang="en-ID" b="1" dirty="0" err="1"/>
              <a:t>ini</a:t>
            </a:r>
            <a:r>
              <a:rPr lang="en-ID" b="1" dirty="0"/>
              <a:t> </a:t>
            </a:r>
            <a:r>
              <a:rPr lang="en-ID" b="1" dirty="0" err="1"/>
              <a:t>untuk</a:t>
            </a:r>
            <a:r>
              <a:rPr lang="en-ID" b="1" dirty="0"/>
              <a:t> Anda?</a:t>
            </a:r>
          </a:p>
          <a:p>
            <a:endParaRPr lang="en-ID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ID" dirty="0" err="1"/>
              <a:t>Tegakkan</a:t>
            </a:r>
            <a:r>
              <a:rPr lang="en-ID" dirty="0"/>
              <a:t> SOP dan </a:t>
            </a:r>
            <a:r>
              <a:rPr lang="en-ID" dirty="0" err="1"/>
              <a:t>cegah</a:t>
            </a:r>
            <a:r>
              <a:rPr lang="en-ID" dirty="0"/>
              <a:t> </a:t>
            </a:r>
            <a:r>
              <a:rPr lang="en-ID" dirty="0" err="1"/>
              <a:t>kesalahan</a:t>
            </a:r>
            <a:r>
              <a:rPr lang="en-ID" dirty="0"/>
              <a:t> (</a:t>
            </a:r>
            <a:r>
              <a:rPr lang="en-ID" i="1" dirty="0"/>
              <a:t>error-proofing</a:t>
            </a:r>
            <a:r>
              <a:rPr lang="en-ID" dirty="0"/>
              <a:t> / Poka-Yoke) pada </a:t>
            </a:r>
            <a:r>
              <a:rPr lang="en-ID" dirty="0" err="1"/>
              <a:t>alur</a:t>
            </a:r>
            <a:r>
              <a:rPr lang="en-ID" dirty="0"/>
              <a:t> </a:t>
            </a:r>
            <a:r>
              <a:rPr lang="en-ID" dirty="0" err="1"/>
              <a:t>kerja</a:t>
            </a:r>
            <a:r>
              <a:rPr lang="en-ID" dirty="0"/>
              <a:t> operator</a:t>
            </a:r>
          </a:p>
          <a:p>
            <a:pPr lvl="1"/>
            <a:endParaRPr lang="en-ID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ID" dirty="0" err="1"/>
              <a:t>Minimalkan</a:t>
            </a:r>
            <a:r>
              <a:rPr lang="en-ID" dirty="0"/>
              <a:t> </a:t>
            </a:r>
            <a:r>
              <a:rPr lang="en-ID" dirty="0" err="1"/>
              <a:t>cacat</a:t>
            </a:r>
            <a:r>
              <a:rPr lang="en-ID" dirty="0"/>
              <a:t> </a:t>
            </a:r>
            <a:r>
              <a:rPr lang="en-ID" dirty="0" err="1"/>
              <a:t>produksi</a:t>
            </a:r>
            <a:r>
              <a:rPr lang="en-ID" dirty="0"/>
              <a:t> (</a:t>
            </a:r>
            <a:r>
              <a:rPr lang="en-ID" i="1" dirty="0"/>
              <a:t>defects</a:t>
            </a:r>
            <a:r>
              <a:rPr lang="en-ID" dirty="0"/>
              <a:t>)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pemeriksaan</a:t>
            </a:r>
            <a:r>
              <a:rPr lang="en-ID" dirty="0"/>
              <a:t> </a:t>
            </a:r>
            <a:r>
              <a:rPr lang="en-ID" dirty="0" err="1"/>
              <a:t>kualitas</a:t>
            </a:r>
            <a:r>
              <a:rPr lang="en-ID" dirty="0"/>
              <a:t> yang </a:t>
            </a:r>
            <a:r>
              <a:rPr lang="en-ID" dirty="0" err="1"/>
              <a:t>ditempatkan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logis</a:t>
            </a:r>
            <a:endParaRPr lang="en-ID" dirty="0"/>
          </a:p>
          <a:p>
            <a:pPr lvl="1"/>
            <a:endParaRPr lang="en-ID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ID" dirty="0" err="1"/>
              <a:t>Lacak</a:t>
            </a:r>
            <a:r>
              <a:rPr lang="en-ID" dirty="0"/>
              <a:t> </a:t>
            </a:r>
            <a:r>
              <a:rPr lang="en-ID" dirty="0" err="1"/>
              <a:t>produk</a:t>
            </a:r>
            <a:r>
              <a:rPr lang="en-ID" dirty="0"/>
              <a:t> </a:t>
            </a:r>
            <a:r>
              <a:rPr lang="en-ID" dirty="0" err="1"/>
              <a:t>cacat</a:t>
            </a:r>
            <a:r>
              <a:rPr lang="en-ID" dirty="0"/>
              <a:t> (</a:t>
            </a:r>
            <a:r>
              <a:rPr lang="en-ID" i="1" dirty="0"/>
              <a:t>defects</a:t>
            </a:r>
            <a:r>
              <a:rPr lang="en-ID" dirty="0"/>
              <a:t>), </a:t>
            </a:r>
            <a:r>
              <a:rPr lang="en-ID" dirty="0" err="1"/>
              <a:t>sisa</a:t>
            </a:r>
            <a:r>
              <a:rPr lang="en-ID" dirty="0"/>
              <a:t> material (</a:t>
            </a:r>
            <a:r>
              <a:rPr lang="en-ID" i="1" dirty="0"/>
              <a:t>scrap</a:t>
            </a:r>
            <a:r>
              <a:rPr lang="en-ID" dirty="0"/>
              <a:t>), dan </a:t>
            </a:r>
            <a:r>
              <a:rPr lang="en-ID" dirty="0" err="1"/>
              <a:t>tindakan</a:t>
            </a:r>
            <a:r>
              <a:rPr lang="en-ID" dirty="0"/>
              <a:t> </a:t>
            </a:r>
            <a:r>
              <a:rPr lang="en-ID" dirty="0" err="1"/>
              <a:t>perbaikan</a:t>
            </a:r>
            <a:r>
              <a:rPr lang="en-ID" dirty="0"/>
              <a:t> (</a:t>
            </a:r>
            <a:r>
              <a:rPr lang="en-ID" i="1" dirty="0"/>
              <a:t>corrective actions</a:t>
            </a:r>
            <a:r>
              <a:rPr lang="en-ID" dirty="0"/>
              <a:t>)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satu</a:t>
            </a:r>
            <a:r>
              <a:rPr lang="en-ID" dirty="0"/>
              <a:t> </a:t>
            </a:r>
            <a:r>
              <a:rPr lang="en-ID" dirty="0" err="1"/>
              <a:t>sistem</a:t>
            </a:r>
            <a:endParaRPr lang="en-ID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34FD6B-57B6-4937-B177-023E99BA29FE}"/>
              </a:ext>
            </a:extLst>
          </p:cNvPr>
          <p:cNvSpPr txBox="1"/>
          <p:nvPr/>
        </p:nvSpPr>
        <p:spPr>
          <a:xfrm>
            <a:off x="0" y="5470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D" b="1" i="0" dirty="0">
                <a:solidFill>
                  <a:srgbClr val="194F91"/>
                </a:solidFill>
                <a:effectLst/>
                <a:latin typeface="Messina"/>
              </a:rPr>
              <a:t>Front line Quality </a:t>
            </a:r>
            <a:r>
              <a:rPr lang="en-ID" b="1" i="0" dirty="0" err="1">
                <a:solidFill>
                  <a:srgbClr val="194F91"/>
                </a:solidFill>
                <a:effectLst/>
                <a:latin typeface="Messina"/>
              </a:rPr>
              <a:t>Controll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3993505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MAVI-MES COMPOSABLE SUITE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Digital Transformation: The Four Operational Pillars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2468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D9488"/>
                </a:solidFill>
                <a:latin typeface="Arial"/>
              </a:defRPr>
            </a:pPr>
            <a:r>
              <a:t>01</a:t>
            </a:r>
          </a:p>
          <a:p>
            <a:pPr>
              <a:spcAft>
                <a:spcPts val="1000"/>
              </a:spcAft>
              <a:defRPr sz="1800" b="1">
                <a:solidFill>
                  <a:srgbClr val="0F172A"/>
                </a:solidFill>
                <a:latin typeface="Arial"/>
              </a:defRPr>
            </a:pPr>
            <a:r>
              <a:t>Gudang &amp; Logistik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  <a:latin typeface="Arial"/>
              </a:defRPr>
            </a:pPr>
            <a:r>
              <a:t>Mengotomatiskan penerimaan barang, pergerakan bin inventaris, dan siklus loop Kanban untuk mengeliminasi downtime kekurangan material.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2011680"/>
            <a:ext cx="2468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D9488"/>
                </a:solidFill>
                <a:latin typeface="Arial"/>
              </a:defRPr>
            </a:pPr>
            <a:r>
              <a:rPr dirty="0"/>
              <a:t>02</a:t>
            </a:r>
          </a:p>
          <a:p>
            <a:pPr>
              <a:spcAft>
                <a:spcPts val="1000"/>
              </a:spcAft>
              <a:defRPr sz="1800" b="1">
                <a:solidFill>
                  <a:srgbClr val="0F172A"/>
                </a:solidFill>
                <a:latin typeface="Arial"/>
              </a:defRPr>
            </a:pPr>
            <a:r>
              <a:rPr dirty="0" err="1"/>
              <a:t>Eksekusi</a:t>
            </a:r>
            <a:r>
              <a:rPr dirty="0"/>
              <a:t> </a:t>
            </a:r>
            <a:r>
              <a:rPr dirty="0" err="1"/>
              <a:t>Lini</a:t>
            </a:r>
            <a:r>
              <a:rPr dirty="0"/>
              <a:t> </a:t>
            </a:r>
            <a:r>
              <a:rPr dirty="0" err="1"/>
              <a:t>Produksi</a:t>
            </a:r>
            <a:endParaRPr dirty="0"/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  <a:latin typeface="Arial"/>
              </a:defRPr>
            </a:pPr>
            <a:r>
              <a:rPr dirty="0" err="1"/>
              <a:t>Mengarahkan</a:t>
            </a:r>
            <a:r>
              <a:rPr dirty="0"/>
              <a:t> operator </a:t>
            </a:r>
            <a:r>
              <a:rPr dirty="0" err="1"/>
              <a:t>melalui</a:t>
            </a:r>
            <a:r>
              <a:rPr dirty="0"/>
              <a:t> </a:t>
            </a:r>
            <a:r>
              <a:rPr dirty="0" err="1"/>
              <a:t>instruksi</a:t>
            </a:r>
            <a:r>
              <a:rPr dirty="0"/>
              <a:t> </a:t>
            </a:r>
            <a:r>
              <a:rPr dirty="0" err="1"/>
              <a:t>kerja</a:t>
            </a:r>
            <a:r>
              <a:rPr dirty="0"/>
              <a:t> digital </a:t>
            </a:r>
            <a:r>
              <a:rPr dirty="0" err="1"/>
              <a:t>terintegrasi</a:t>
            </a:r>
            <a:r>
              <a:rPr dirty="0"/>
              <a:t>, </a:t>
            </a:r>
            <a:r>
              <a:rPr dirty="0" err="1"/>
              <a:t>melacak</a:t>
            </a:r>
            <a:r>
              <a:rPr dirty="0"/>
              <a:t> OEE </a:t>
            </a:r>
            <a:r>
              <a:rPr dirty="0" err="1"/>
              <a:t>secara</a:t>
            </a:r>
            <a:r>
              <a:rPr dirty="0"/>
              <a:t> real-time, dan </a:t>
            </a:r>
            <a:r>
              <a:rPr dirty="0" err="1"/>
              <a:t>menghentikan</a:t>
            </a:r>
            <a:r>
              <a:rPr dirty="0"/>
              <a:t> </a:t>
            </a:r>
            <a:r>
              <a:rPr dirty="0" err="1"/>
              <a:t>stasiun</a:t>
            </a:r>
            <a:r>
              <a:rPr dirty="0"/>
              <a:t> </a:t>
            </a:r>
            <a:r>
              <a:rPr dirty="0" err="1"/>
              <a:t>saat</a:t>
            </a:r>
            <a:r>
              <a:rPr dirty="0"/>
              <a:t> Andon downtime.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011680"/>
            <a:ext cx="2468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D9488"/>
                </a:solidFill>
                <a:latin typeface="Arial"/>
              </a:defRPr>
            </a:pPr>
            <a:r>
              <a:t>03</a:t>
            </a:r>
          </a:p>
          <a:p>
            <a:pPr>
              <a:spcAft>
                <a:spcPts val="1000"/>
              </a:spcAft>
              <a:defRPr sz="1800" b="1">
                <a:solidFill>
                  <a:srgbClr val="0F172A"/>
                </a:solidFill>
                <a:latin typeface="Arial"/>
              </a:defRPr>
            </a:pPr>
            <a:r>
              <a:t>Frontline QMS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  <a:latin typeface="Arial"/>
              </a:defRPr>
            </a:pPr>
            <a:r>
              <a:t>Menstandardisasi pengujian spesifikasi dan visual kontrol, mengisolasi defect instan di papan MRB, serta merancang tindakan korektif CAPA.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2011680"/>
            <a:ext cx="2468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D9488"/>
                </a:solidFill>
                <a:latin typeface="Arial"/>
              </a:defRPr>
            </a:pPr>
            <a:r>
              <a:t>04</a:t>
            </a:r>
          </a:p>
          <a:p>
            <a:pPr>
              <a:spcAft>
                <a:spcPts val="1000"/>
              </a:spcAft>
              <a:defRPr sz="1800" b="1">
                <a:solidFill>
                  <a:srgbClr val="0F172A"/>
                </a:solidFill>
                <a:latin typeface="Arial"/>
              </a:defRPr>
            </a:pPr>
            <a:r>
              <a:t>Analitik Manajemen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  <a:latin typeface="Arial"/>
              </a:defRPr>
            </a:pPr>
            <a:r>
              <a:t>Menyajikan wawasan data terpadu untuk efisiensi siklus pemenuhan bahan baku, distribusi downtime, dan tingkat mutu langsung bagi pimpinan.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PILLAR 1: WAREHOUSE &amp; LOGISTICS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1. Alur Masuk &amp; Manajemen Gudang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Mengintegrasikan Penerimaan ke Penyimpanan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Material Loading &amp; Receiving: Operator dermaga memindai material baru, mencatat lot, status, serta memasukkannya ke database supabse.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Material Warehouse: Petugas stockroom memindahkan barang masuk ke rak penyimpanan tetap, memperbarui data bin secara real-time.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Inventory Management: Menyediakan dasbor administrasi pusat untuk melihat kuantitas di setiap bin, mendefinisikan part baru, dan mengaktifkan kartu Kanban.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ARSITEKTUR DATA &amp; INSTALASI</a:t>
            </a:r>
          </a:p>
          <a:p>
            <a:pPr>
              <a:spcAft>
                <a:spcPts val="1500"/>
              </a:spcAft>
              <a:defRPr sz="1200" b="1">
                <a:solidFill>
                  <a:srgbClr val="0F172A"/>
                </a:solidFill>
                <a:latin typeface="Courier New"/>
              </a:defRPr>
            </a:pPr>
            <a:r>
              <a:t>Tabel Database Terhubung:</a:t>
            </a:r>
            <a:br/>
            <a:r>
              <a:t>• Inventory_Items: Menyimpan kuantitas, lokasi, UoM, dan status barang.</a:t>
            </a:r>
            <a:br/>
            <a:r>
              <a:t>• Material_Definitions: Master spesifikasi part (nama, revisi, lead time).</a:t>
            </a:r>
          </a:p>
          <a:p>
            <a:pPr>
              <a:lnSpc>
                <a:spcPct val="120000"/>
              </a:lnSpc>
              <a:defRPr sz="1300">
                <a:solidFill>
                  <a:srgbClr val="64748B"/>
                </a:solidFill>
                <a:latin typeface="Arial"/>
              </a:defRPr>
            </a:pPr>
            <a:r>
              <a:t>💡 Auto-Seed Highlight:</a:t>
            </a:r>
            <a:br/>
            <a:r>
              <a:t>Saat diinstal, sistem otomatis memasukkan 45 pcs unit silinder aktuator (DEMO-CYL-A1) ke lokasi BIN-12 Rack A agar dasbor langsung terisi data visual.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PILLAR 1: WAREHOUSE &amp; LOGISTICS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2. Alur Pengisian Bahan Baku di Shopfloor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Siklus Kanban Tertutup untuk Kelancaran Lini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Material Request App: Operator memindai bin kosong saat bahan baku menipis, memicu order pemenuhan otomatis di database.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Replenishment App: Bertindak sebagai terminal mini-warehouse untuk menampilkan daftar pesanan pengisian stok aktif berdasarkan prioritas FIFO.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Material Handling App: Memberikan panduan picking terpadu dan peta rute antar stasiun bagi petugas logistik (Water Spider).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SINKRONISASI KANBAN LOOP</a:t>
            </a:r>
          </a:p>
          <a:p>
            <a:pPr>
              <a:spcAft>
                <a:spcPts val="1500"/>
              </a:spcAft>
              <a:defRPr sz="1200" b="1">
                <a:solidFill>
                  <a:srgbClr val="0F172A"/>
                </a:solidFill>
                <a:latin typeface="Courier New"/>
              </a:defRPr>
            </a:pPr>
            <a:r>
              <a:t>Tabel Database Terhubung:</a:t>
            </a:r>
            <a:br/>
            <a:r>
              <a:t>• Material_Requests: Mengoordinasikan status PENDING, IN PROGRESS, hingga COMPLETED.</a:t>
            </a:r>
            <a:br/>
            <a:r>
              <a:t>• Kanban_Cards: Mengontrol status bin FULL atau EMPTY.</a:t>
            </a:r>
          </a:p>
          <a:p>
            <a:pPr>
              <a:lnSpc>
                <a:spcPct val="120000"/>
              </a:lnSpc>
              <a:defRPr sz="1300">
                <a:solidFill>
                  <a:srgbClr val="64748B"/>
                </a:solidFill>
                <a:latin typeface="Arial"/>
              </a:defRPr>
            </a:pPr>
            <a:r>
              <a:t>💡 Auto-Seed Highlight:</a:t>
            </a:r>
            <a:br/>
            <a:r>
              <a:t>Data default diisi pesanan aktif silinder aktuator (10 unit, PENDING, stasiun 1) dan fasteners M6 (200 unit, IN PROGRESS, stasiun 2) untuk demonstrasi loop tangkas.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PILLAR 2: PRODUCTION LINE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3. Eksekusi Produksi &amp; Alur Downtime Andon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Menjaga Kualitas &amp; Menghentikan Downtime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Order Execution App: Memuat daftar perintah kerja aktif, menuntun langkah perakitan, dan mencatat unit hasil kerja ke database secara terpadu.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Andon Terminal App: Memberdayakan operator untuk langsung melaporkan kendala kritis, membekukan stasiun (Status: DOWN) demi mencegah cacat perakitan.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Andon Management App: Menyediakan dasbor pusat bagi supervisor untuk menunjuk penanggung jawab masalah dan membuka kembali stasiun kerja.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KONTROL DAN PROTEKSI LINI</a:t>
            </a:r>
          </a:p>
          <a:p>
            <a:pPr>
              <a:spcAft>
                <a:spcPts val="1500"/>
              </a:spcAft>
              <a:defRPr sz="1200" b="1">
                <a:solidFill>
                  <a:srgbClr val="0F172A"/>
                </a:solidFill>
                <a:latin typeface="Courier New"/>
              </a:defRPr>
            </a:pPr>
            <a:r>
              <a:t>Tabel Database Terhubung:</a:t>
            </a:r>
            <a:br/>
            <a:r>
              <a:t>• Work_Orders: Menyimpan status RELEASED, IN PROGRESS, hingga SHIPPED.</a:t>
            </a:r>
            <a:br/>
            <a:r>
              <a:t>• Actions: Tiket laporan masalah Andon aktif.</a:t>
            </a:r>
            <a:br/>
            <a:r>
              <a:t>• Stations: Pemantau status stasiun (RUNNING/DOWN).</a:t>
            </a:r>
          </a:p>
          <a:p>
            <a:pPr>
              <a:lnSpc>
                <a:spcPct val="120000"/>
              </a:lnSpc>
              <a:defRPr sz="1300">
                <a:solidFill>
                  <a:srgbClr val="64748B"/>
                </a:solidFill>
                <a:latin typeface="Arial"/>
              </a:defRPr>
            </a:pPr>
            <a:r>
              <a:t>💡 Auto-Seed Highlight:</a:t>
            </a:r>
            <a:br/>
            <a:r>
              <a:t>Tabel stasiun langsung terisi data stasiun aktif berserta durasi downtime untuk kalkulasi Overall Equipment Effectiveness (OEE).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PILLAR 3: FRONTLINE QUALITY (QMS)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4. Frontline Quality (QMS) &amp; Inspeksi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Menjamin Mutu &amp; Tindakan Korektif (CAPA)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Quality Inspection Suite: Uji mutu produk di stasiun perakitan, memeriksa ukuran numerik atau mencocokkan titik kelurusan kelonggaran aktuator silinder.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Frontline QMS App (MRB): Menyediakan panel disposisi dewan kualitas. Operator menunjuk status scrap (buang), rework (perbaiki), atau use-as-is.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CAPA Incident Architect: Penulisan tindakan pencegahan formal terintegrasi, mempermudah pelacakan investigasi 5-Why langsung di lapangan.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PENJAMINAN MUTU TERTUTUP</a:t>
            </a:r>
          </a:p>
          <a:p>
            <a:pPr>
              <a:spcAft>
                <a:spcPts val="1500"/>
              </a:spcAft>
              <a:defRPr sz="1200" b="1">
                <a:solidFill>
                  <a:srgbClr val="0F172A"/>
                </a:solidFill>
                <a:latin typeface="Courier New"/>
              </a:defRPr>
            </a:pPr>
            <a:r>
              <a:t>Tabel Database Terhubung:</a:t>
            </a:r>
            <a:br/>
            <a:r>
              <a:t>• Inspection_Plans: Uji spek dinamis.</a:t>
            </a:r>
            <a:br/>
            <a:r>
              <a:t>• Defect_Events: Registrasi deviasi unit gagal uji.</a:t>
            </a:r>
            <a:br/>
            <a:r>
              <a:t>• CAPA_Incidents: Solusi rekayasa mutu permanen.</a:t>
            </a:r>
          </a:p>
          <a:p>
            <a:pPr>
              <a:lnSpc>
                <a:spcPct val="120000"/>
              </a:lnSpc>
              <a:defRPr sz="1300">
                <a:solidFill>
                  <a:srgbClr val="64748B"/>
                </a:solidFill>
                <a:latin typeface="Arial"/>
              </a:defRPr>
            </a:pPr>
            <a:r>
              <a:t>💡 Auto-Seed Highlight:</a:t>
            </a:r>
            <a:br/>
            <a:r>
              <a:t>Tabel defect terisi contoh riil gagal uji silinder aktuator PU-58130425022025 lengkap dengan alasan kegagalan kelurusan untuk simulasi alur penanganan deviasi kualitas.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PILLAR 4: OPERATIONS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5. Dasbor Analitik OEE &amp; Kinerja Pabrik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Wawasan Real-Time untuk Keputusan Tepat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Inventory Dashboard: Memantau durasi penyelesaian loop pengisian material, membantu optimasi logistik tangkas pabrik.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Operations Management Dashboard: Mengonsolidasikan OEE stasiun kerja secara langsung, grafik volume produksi per jam, dan rasio kualitas.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Downtime &amp; Defect Analytics: Memetakan sebaran penyebab terhentinya produksi (Andon) dan pola defect kualitas terbanyak.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OPTIMASI PROSES PABRIK</a:t>
            </a:r>
          </a:p>
          <a:p>
            <a:pPr>
              <a:spcAft>
                <a:spcPts val="1500"/>
              </a:spcAft>
              <a:defRPr sz="1200" b="1">
                <a:solidFill>
                  <a:srgbClr val="0F172A"/>
                </a:solidFill>
                <a:latin typeface="Courier New"/>
              </a:defRPr>
            </a:pPr>
            <a:r>
              <a:t>Sumber Data Analitik Terpadu:</a:t>
            </a:r>
            <a:br/>
            <a:r>
              <a:t>• Station_Activity_History: Sejarah waktu jalan/downtime mesin.</a:t>
            </a:r>
            <a:br/>
            <a:r>
              <a:t>• Material_Requests: Durasi loop replenishment.</a:t>
            </a:r>
            <a:br/>
            <a:r>
              <a:t>• Production_Counts: Metrik volume per shift.</a:t>
            </a:r>
          </a:p>
          <a:p>
            <a:pPr>
              <a:defRPr sz="1300">
                <a:latin typeface="Arial"/>
              </a:defRPr>
            </a:pPr>
            <a:r>
              <a:t>💡 Value Creation:</a:t>
            </a:r>
            <a:br/>
            <a:r>
              <a:t>Manajer dapat mengidentifikasi stasiun dengan downtime tertinggi dan membandingkannya dengan deviasi QMS aktif untuk perbaikan berkelanjutan (Kaizen).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PILLAR 5: DEPLOYMENT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Urutan Instalasi &amp; Panduan Dependensi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377440" cy="420624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rPr dirty="0"/>
              <a:t>LANGKAH 01</a:t>
            </a:r>
          </a:p>
          <a:p>
            <a:pPr algn="ctr">
              <a:spcAft>
                <a:spcPts val="8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rPr dirty="0"/>
              <a:t>INVENTORY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050" b="1">
                <a:solidFill>
                  <a:srgbClr val="0F172A"/>
                </a:solidFill>
                <a:latin typeface="Arial"/>
              </a:defRPr>
            </a:pPr>
            <a:r>
              <a:rPr dirty="0"/>
              <a:t>App Store Templates:</a:t>
            </a:r>
            <a:br>
              <a:rPr dirty="0"/>
            </a:br>
            <a:r>
              <a:rPr dirty="0"/>
              <a:t>• Material Warehouse</a:t>
            </a:r>
            <a:br>
              <a:rPr dirty="0"/>
            </a:br>
            <a:r>
              <a:rPr dirty="0"/>
              <a:t>• Inventory App Suite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rPr dirty="0" err="1"/>
              <a:t>Fungsi</a:t>
            </a:r>
            <a:r>
              <a:rPr dirty="0"/>
              <a:t>:</a:t>
            </a:r>
            <a:br>
              <a:rPr dirty="0"/>
            </a:br>
            <a:r>
              <a:rPr dirty="0" err="1"/>
              <a:t>Membangun</a:t>
            </a:r>
            <a:r>
              <a:rPr dirty="0"/>
              <a:t> </a:t>
            </a:r>
            <a:r>
              <a:rPr dirty="0" err="1"/>
              <a:t>tabel</a:t>
            </a:r>
            <a:r>
              <a:rPr dirty="0"/>
              <a:t> </a:t>
            </a:r>
            <a:r>
              <a:rPr dirty="0" err="1"/>
              <a:t>fondasi</a:t>
            </a:r>
            <a:r>
              <a:rPr dirty="0"/>
              <a:t> '</a:t>
            </a:r>
            <a:r>
              <a:rPr dirty="0" err="1"/>
              <a:t>Inventory_Items</a:t>
            </a:r>
            <a:r>
              <a:rPr dirty="0"/>
              <a:t>' &amp; '</a:t>
            </a:r>
            <a:r>
              <a:rPr dirty="0" err="1"/>
              <a:t>Material_Definitions</a:t>
            </a:r>
            <a:r>
              <a:rPr dirty="0"/>
              <a:t>'.</a:t>
            </a:r>
          </a:p>
          <a:p>
            <a:pPr>
              <a:lnSpc>
                <a:spcPct val="110000"/>
              </a:lnSpc>
              <a:defRPr sz="1000" b="1">
                <a:solidFill>
                  <a:srgbClr val="0D9488"/>
                </a:solidFill>
                <a:latin typeface="Arial"/>
              </a:defRPr>
            </a:pPr>
            <a:r>
              <a:rPr dirty="0"/>
              <a:t>💡 Langkah </a:t>
            </a:r>
            <a:r>
              <a:rPr dirty="0" err="1"/>
              <a:t>Verifikasi</a:t>
            </a:r>
            <a:r>
              <a:rPr dirty="0"/>
              <a:t>:</a:t>
            </a:r>
            <a:br>
              <a:rPr dirty="0"/>
            </a:br>
            <a:r>
              <a:rPr dirty="0"/>
              <a:t>Buka Material Warehouse App. </a:t>
            </a:r>
            <a:r>
              <a:rPr dirty="0" err="1"/>
              <a:t>Pastikan</a:t>
            </a:r>
            <a:r>
              <a:rPr dirty="0"/>
              <a:t> dummy unit 'DEMO-CYL-A1' </a:t>
            </a:r>
            <a:r>
              <a:rPr dirty="0" err="1"/>
              <a:t>muncul</a:t>
            </a:r>
            <a:r>
              <a:rPr dirty="0"/>
              <a:t> di </a:t>
            </a:r>
            <a:r>
              <a:rPr dirty="0" err="1"/>
              <a:t>Rak</a:t>
            </a:r>
            <a:r>
              <a:rPr dirty="0"/>
              <a:t> BIN-12.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00400" y="4023360"/>
            <a:ext cx="182880" cy="1828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0" y="2011680"/>
            <a:ext cx="2377440" cy="420624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EA580C"/>
                </a:solidFill>
                <a:latin typeface="Arial"/>
              </a:defRPr>
            </a:pPr>
            <a:r>
              <a:t>LANGKAH 02</a:t>
            </a:r>
          </a:p>
          <a:p>
            <a:pPr algn="ctr">
              <a:spcAft>
                <a:spcPts val="8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PRODUCTION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050" b="1">
                <a:solidFill>
                  <a:srgbClr val="0F172A"/>
                </a:solidFill>
                <a:latin typeface="Arial"/>
              </a:defRPr>
            </a:pPr>
            <a:r>
              <a:t>App Store Templates:</a:t>
            </a:r>
            <a:br/>
            <a:r>
              <a:t>• Composable MES</a:t>
            </a:r>
            <a:br/>
            <a:r>
              <a:t>• Andon Terminal</a:t>
            </a:r>
            <a:br/>
            <a:r>
              <a:t>• Andon Management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Fungsi:</a:t>
            </a:r>
            <a:br/>
            <a:r>
              <a:t>Menghubungkan perakitan &amp; downtime stasiun kerja yang memotong stok.</a:t>
            </a:r>
          </a:p>
          <a:p>
            <a:pPr>
              <a:lnSpc>
                <a:spcPct val="110000"/>
              </a:lnSpc>
              <a:defRPr sz="1000" b="1">
                <a:solidFill>
                  <a:srgbClr val="0D9488"/>
                </a:solidFill>
                <a:latin typeface="Arial"/>
              </a:defRPr>
            </a:pPr>
            <a:r>
              <a:t>💡 Langkah Verifikasi:</a:t>
            </a:r>
            <a:br/>
            <a:r>
              <a:t>Picu downtime stasiun, pastikan status stasiun DOWN terupdate real-time.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126480" y="4023360"/>
            <a:ext cx="182880" cy="1828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83680" y="2011680"/>
            <a:ext cx="2377440" cy="420624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D97706"/>
                </a:solidFill>
                <a:latin typeface="Arial"/>
              </a:defRPr>
            </a:pPr>
            <a:r>
              <a:t>LANGKAH 03</a:t>
            </a:r>
          </a:p>
          <a:p>
            <a:pPr algn="ctr">
              <a:spcAft>
                <a:spcPts val="8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QUALITY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050" b="1">
                <a:solidFill>
                  <a:srgbClr val="0F172A"/>
                </a:solidFill>
                <a:latin typeface="Arial"/>
              </a:defRPr>
            </a:pPr>
            <a:r>
              <a:t>App Store Templates:</a:t>
            </a:r>
            <a:br/>
            <a:r>
              <a:t>• Quality Inspection</a:t>
            </a:r>
            <a:br/>
            <a:r>
              <a:t>• Frontline QMS App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Fungsi:</a:t>
            </a:r>
            <a:br/>
            <a:r>
              <a:t>Mengevaluasi hasil lini &amp; menyalurkan defect perakitan ke papan MRB.</a:t>
            </a:r>
          </a:p>
          <a:p>
            <a:pPr>
              <a:lnSpc>
                <a:spcPct val="110000"/>
              </a:lnSpc>
              <a:defRPr sz="1000" b="1">
                <a:solidFill>
                  <a:srgbClr val="0D9488"/>
                </a:solidFill>
                <a:latin typeface="Arial"/>
              </a:defRPr>
            </a:pPr>
            <a:r>
              <a:t>💡 Langkah Verifikasi:</a:t>
            </a:r>
            <a:br/>
            <a:r>
              <a:t>Jalankan uji mutu, masukkan kegagalan, pastikan defect terdaftar instan ke MRB.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9052560" y="4023360"/>
            <a:ext cx="182880" cy="1828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509760" y="2011680"/>
            <a:ext cx="2377440" cy="420624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7C3AED"/>
                </a:solidFill>
                <a:latin typeface="Arial"/>
              </a:defRPr>
            </a:pPr>
            <a:r>
              <a:t>LANGKAH 04</a:t>
            </a:r>
          </a:p>
          <a:p>
            <a:pPr algn="ctr">
              <a:spcAft>
                <a:spcPts val="8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ANALYTICS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050" b="1">
                <a:solidFill>
                  <a:srgbClr val="0F172A"/>
                </a:solidFill>
                <a:latin typeface="Arial"/>
              </a:defRPr>
            </a:pPr>
            <a:r>
              <a:t>App Store Templates:</a:t>
            </a:r>
            <a:br/>
            <a:r>
              <a:t>• Replenishment App</a:t>
            </a:r>
            <a:br/>
            <a:r>
              <a:t>• Material Handling</a:t>
            </a:r>
            <a:br/>
            <a:r>
              <a:t>• OEE MES Dashboard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Fungsi:</a:t>
            </a:r>
            <a:br/>
            <a:r>
              <a:t>Konsolidasi Kanban loop, OEE, &amp; cycle time historis pabrik secara utuh.</a:t>
            </a:r>
          </a:p>
          <a:p>
            <a:pPr>
              <a:lnSpc>
                <a:spcPct val="110000"/>
              </a:lnSpc>
              <a:defRPr sz="1000" b="1">
                <a:solidFill>
                  <a:srgbClr val="0D9488"/>
                </a:solidFill>
                <a:latin typeface="Arial"/>
              </a:defRPr>
            </a:pPr>
            <a:r>
              <a:t>💡 Langkah Verifikasi:</a:t>
            </a:r>
            <a:br/>
            <a:r>
              <a:t>Scan bin kosong, pastikan order baru masuk antrean Water Spider logistik.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PILLAR 6: FACTORY PROCESS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Pemetaan Proses &amp; Diagram Alur Kerja Template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1920240" cy="164592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8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LANGKAH 1</a:t>
            </a:r>
          </a:p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100">
                <a:solidFill>
                  <a:srgbClr val="1E293B"/>
                </a:solidFill>
                <a:latin typeface="Arial"/>
              </a:defRPr>
            </a:pPr>
            <a:r>
              <a:t>Material Loading &amp; Warehouse</a:t>
            </a:r>
            <a:br/>
            <a:r>
              <a:t>Registrasi &amp; penempatan material baru ke rak penyimpanan.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43200" y="2743200"/>
            <a:ext cx="182880" cy="1828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017520" y="2011680"/>
            <a:ext cx="1920240" cy="164592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8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LANGKAH 2</a:t>
            </a:r>
          </a:p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REPLENISH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93192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100">
                <a:solidFill>
                  <a:srgbClr val="1E293B"/>
                </a:solidFill>
                <a:latin typeface="Arial"/>
              </a:defRPr>
            </a:pPr>
            <a:r>
              <a:t>Material Request &amp; Replenishment</a:t>
            </a:r>
            <a:br/>
            <a:r>
              <a:t>Pemicuan loop Kanban saat bin perakitan di lini habis.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029200" y="2743200"/>
            <a:ext cx="182880" cy="1828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303520" y="2011680"/>
            <a:ext cx="1920240" cy="164592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800"/>
              </a:spcAft>
              <a:defRPr sz="1100" b="1">
                <a:solidFill>
                  <a:srgbClr val="EA580C"/>
                </a:solidFill>
                <a:latin typeface="Arial"/>
              </a:defRPr>
            </a:pPr>
            <a:r>
              <a:t>LANGKAH 3</a:t>
            </a:r>
          </a:p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EXECUTE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393192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100">
                <a:solidFill>
                  <a:srgbClr val="1E293B"/>
                </a:solidFill>
                <a:latin typeface="Arial"/>
              </a:defRPr>
            </a:pPr>
            <a:r>
              <a:t>Order Execution &amp; Andon Terminal</a:t>
            </a:r>
            <a:br/>
            <a:r>
              <a:t>Instruksi perakitan operator &amp; pemicuan downtime terintegrasi.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315200" y="2743200"/>
            <a:ext cx="182880" cy="1828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589520" y="2011680"/>
            <a:ext cx="1920240" cy="164592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800"/>
              </a:spcAft>
              <a:defRPr sz="1100" b="1">
                <a:solidFill>
                  <a:srgbClr val="D97706"/>
                </a:solidFill>
                <a:latin typeface="Arial"/>
              </a:defRPr>
            </a:pPr>
            <a:r>
              <a:t>LANGKAH 4</a:t>
            </a:r>
          </a:p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VERIFY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393192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100">
                <a:solidFill>
                  <a:srgbClr val="1E293B"/>
                </a:solidFill>
                <a:latin typeface="Arial"/>
              </a:defRPr>
            </a:pPr>
            <a:r>
              <a:t>Quality Inspection &amp; Frontline QMS</a:t>
            </a:r>
            <a:br/>
            <a:r>
              <a:t>Uji toleransi produk perakitan &amp; disposisi cacat (MRB).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601200" y="2743200"/>
            <a:ext cx="182880" cy="1828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875520" y="2011680"/>
            <a:ext cx="1920240" cy="164592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800"/>
              </a:spcAft>
              <a:defRPr sz="1100" b="1">
                <a:solidFill>
                  <a:srgbClr val="7C3AED"/>
                </a:solidFill>
                <a:latin typeface="Arial"/>
              </a:defRPr>
            </a:pPr>
            <a:r>
              <a:t>LANGKAH 5</a:t>
            </a:r>
          </a:p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ANALYZE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393192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100">
                <a:solidFill>
                  <a:srgbClr val="1E293B"/>
                </a:solidFill>
                <a:latin typeface="Arial"/>
              </a:defRPr>
            </a:pPr>
            <a:r>
              <a:t>Dashboard OEE &amp; Analytics</a:t>
            </a:r>
            <a:br/>
            <a:r>
              <a:t>Konsolidasi pencapaian target per jam, OEE, &amp; cycle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PILLAR 7: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Spesifikasi Perangkat Keras &amp; Infrastruktur Lini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377440" cy="393192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  <a:defRPr sz="3600" b="1">
                <a:solidFill>
                  <a:srgbClr val="0D9488"/>
                </a:solidFill>
                <a:latin typeface="Arial"/>
              </a:defRPr>
            </a:pPr>
            <a:r>
              <a:t>01</a:t>
            </a:r>
          </a:p>
          <a:p>
            <a:pPr>
              <a:spcAft>
                <a:spcPts val="15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TABLET OPERATOR</a:t>
            </a:r>
          </a:p>
          <a:p>
            <a:pPr>
              <a:lnSpc>
                <a:spcPct val="120000"/>
              </a:lnSpc>
              <a:defRPr sz="1100">
                <a:solidFill>
                  <a:srgbClr val="1E293B"/>
                </a:solidFill>
                <a:latin typeface="Arial"/>
              </a:defRPr>
            </a:pPr>
            <a:r>
              <a:t>Tablet layar sentuh min. 10 inci (iOS/Android) ditempatkan di stasiun perakitan operator &amp; stasiun visual kualitas (QMS) sebagai terminal input.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2011680"/>
            <a:ext cx="2377440" cy="393192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  <a:defRPr sz="3600" b="1">
                <a:solidFill>
                  <a:srgbClr val="EA580C"/>
                </a:solidFill>
                <a:latin typeface="Arial"/>
              </a:defRPr>
            </a:pPr>
            <a:r>
              <a:t>02</a:t>
            </a:r>
          </a:p>
          <a:p>
            <a:pPr>
              <a:spcAft>
                <a:spcPts val="15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BARCODE SCANNER</a:t>
            </a:r>
          </a:p>
          <a:p>
            <a:pPr>
              <a:lnSpc>
                <a:spcPct val="120000"/>
              </a:lnSpc>
              <a:defRPr sz="1100">
                <a:solidFill>
                  <a:srgbClr val="1E293B"/>
                </a:solidFill>
                <a:latin typeface="Arial"/>
              </a:defRPr>
            </a:pPr>
            <a:r>
              <a:t>Pemindai genggam USB/Bluetooth dalam mode Keyboard Emulation untuk scan otomatis nomor Lot material &amp; barcode bin kosong Kanban secara cepat.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2011680"/>
            <a:ext cx="2377440" cy="393192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  <a:defRPr sz="3600" b="1">
                <a:solidFill>
                  <a:srgbClr val="D97706"/>
                </a:solidFill>
                <a:latin typeface="Arial"/>
              </a:defRPr>
            </a:pPr>
            <a:r>
              <a:t>03</a:t>
            </a:r>
          </a:p>
          <a:p>
            <a:pPr>
              <a:spcAft>
                <a:spcPts val="15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ANDON MONITOR TV</a:t>
            </a:r>
          </a:p>
          <a:p>
            <a:pPr>
              <a:lnSpc>
                <a:spcPct val="120000"/>
              </a:lnSpc>
              <a:defRPr sz="1100">
                <a:solidFill>
                  <a:srgbClr val="1E293B"/>
                </a:solidFill>
                <a:latin typeface="Arial"/>
              </a:defRPr>
            </a:pPr>
            <a:r>
              <a:t>Smart TV / TV LCD min. 43 inci di lorong stasiun perakitan untuk visualisasi stasiunDOWN secara terpusat bagi supervisor &amp; tim utilitas.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09760" y="2011680"/>
            <a:ext cx="2377440" cy="393192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  <a:defRPr sz="3600" b="1">
                <a:solidFill>
                  <a:srgbClr val="7C3AED"/>
                </a:solidFill>
                <a:latin typeface="Arial"/>
              </a:defRPr>
            </a:pPr>
            <a:r>
              <a:t>04</a:t>
            </a:r>
          </a:p>
          <a:p>
            <a:pPr>
              <a:spcAft>
                <a:spcPts val="15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DATABASE SUPABASE</a:t>
            </a:r>
          </a:p>
          <a:p>
            <a:pPr>
              <a:lnSpc>
                <a:spcPct val="120000"/>
              </a:lnSpc>
              <a:defRPr sz="1100">
                <a:solidFill>
                  <a:srgbClr val="1E293B"/>
                </a:solidFill>
                <a:latin typeface="Arial"/>
              </a:defRPr>
            </a:pPr>
            <a:r>
              <a:t>Koneksi Wi-Fi pabrik berlatensi rendah (&lt;50ms) yang terhubung langsung ke skema Supabase aman untuk sinkronisasi inventaris &amp; order secara instan.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PILLAR 8: OPERATION STANDARD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Pedoman Standardisasi Label Barcode Pabrik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Format Sintaks Label &amp; Pemetaan Parser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250">
                <a:solidFill>
                  <a:srgbClr val="1E293B"/>
                </a:solidFill>
                <a:latin typeface="Arial"/>
              </a:defRPr>
            </a:pPr>
            <a:r>
              <a:t>• Format Kartu Kanban (Bin Kosong):</a:t>
            </a:r>
            <a:br/>
            <a:r>
              <a:t>Sintaks: KB-[KODE_STASIUN]-[NOMOR_PART]</a:t>
            </a:r>
            <a:br/>
            <a:r>
              <a:t>Contoh: KB-STA1-CYL-A1</a:t>
            </a:r>
            <a:br/>
            <a:r>
              <a:t>(Fungsi: Scan bin kosong memicu order replenishment baru stasiun 1).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250">
                <a:solidFill>
                  <a:srgbClr val="1E293B"/>
                </a:solidFill>
                <a:latin typeface="Arial"/>
              </a:defRPr>
            </a:pPr>
            <a:r>
              <a:t>• Format Lot Penerimaan (Barang Datang):</a:t>
            </a:r>
            <a:br/>
            <a:r>
              <a:t>Sintaks: LOT-[NOMOR_PART]-[YYYYMMDD]-[BATCH]</a:t>
            </a:r>
            <a:br/>
            <a:r>
              <a:t>Contoh: LOT-CYL-A1-20260519-01</a:t>
            </a:r>
            <a:br/>
            <a:r>
              <a:t>(Fungsi: Memastikan ketertelusuran cacat bahan baku di MRB).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250">
                <a:solidFill>
                  <a:srgbClr val="1E293B"/>
                </a:solidFill>
                <a:latin typeface="Arial"/>
              </a:defRPr>
            </a:pPr>
            <a:r>
              <a:t>• Format Perintah Kerja (Work Order):</a:t>
            </a:r>
            <a:br/>
            <a:r>
              <a:t>Sintaks: WO-[TIPE_PRODUK]-[NO_URUT]</a:t>
            </a:r>
            <a:br/>
            <a:r>
              <a:t>Contoh: WO-CYL-A1-0089</a:t>
            </a:r>
            <a:br/>
            <a:r>
              <a:t>(Fungsi: Scan WO untuk memuat langkah instruksi perakitan).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PEDOMAN IMPLEMENTASI SCANNER</a:t>
            </a:r>
          </a:p>
          <a:p>
            <a:pPr>
              <a:lnSpc>
                <a:spcPct val="125000"/>
              </a:lnSpc>
              <a:defRPr sz="1250">
                <a:solidFill>
                  <a:srgbClr val="64748B"/>
                </a:solidFill>
                <a:latin typeface="Arial"/>
              </a:defRPr>
            </a:pPr>
            <a:r>
              <a:t>💡 Petunjuk Integrasi Pemindai:</a:t>
            </a:r>
            <a:br/>
            <a:br/>
            <a:r>
              <a:t>1. Pemindai harus diatur ke mode keyboard (HID Mode) agar tulisan barcode langsung terisi ke kotak input teks aplikasi.</a:t>
            </a:r>
            <a:br/>
            <a:br/>
            <a:r>
              <a:t>2. Rekomendasi stiker barcode tahan panas/oli untuk stiker rak logam atau bin perakitan logam agar tidak luntur saat proses produksi.</a:t>
            </a:r>
            <a:br/>
            <a:br/>
            <a:r>
              <a:t>3. Parser regex yang tertanam pada widget Mavi-MES memvalidasi kecocokan nomor part secara otomatis untuk menghindari salah pemicuan Kanban stasiun.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55454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PILLAR 9: TROUBLESHOOTING PLAYBOOK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Protokol Penanganan Masalah &amp; FAQ Operasional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F172A"/>
                </a:solidFill>
                <a:latin typeface="Arial"/>
              </a:defRPr>
            </a:pPr>
            <a:r>
              <a:t>Gejala Gangguan Operasional Lapangan</a:t>
            </a:r>
          </a:p>
          <a:p>
            <a:pPr>
              <a:lnSpc>
                <a:spcPct val="120000"/>
              </a:lnSpc>
              <a:spcAft>
                <a:spcPts val="1500"/>
              </a:spcAft>
              <a:defRPr sz="1300" b="1">
                <a:solidFill>
                  <a:srgbClr val="EA580C"/>
                </a:solidFill>
                <a:latin typeface="Arial"/>
              </a:defRPr>
            </a:pPr>
            <a:r>
              <a:t>✗ Gejala 1: Barcode dipindai tetapi pesanan pengisian Kanban tidak masuk ke antrean Water Spider.</a:t>
            </a:r>
          </a:p>
          <a:p>
            <a:pPr>
              <a:lnSpc>
                <a:spcPct val="120000"/>
              </a:lnSpc>
              <a:spcAft>
                <a:spcPts val="1500"/>
              </a:spcAft>
              <a:defRPr sz="1300" b="1">
                <a:solidFill>
                  <a:srgbClr val="EA580C"/>
                </a:solidFill>
                <a:latin typeface="Arial"/>
              </a:defRPr>
            </a:pPr>
            <a:r>
              <a:t>✗ Gejala 2: Unit cacat terdeteksi stasiun QMS, tetapi stasiun perakitan operator tidak terkunci otomatis.</a:t>
            </a:r>
          </a:p>
          <a:p>
            <a:pPr>
              <a:lnSpc>
                <a:spcPct val="120000"/>
              </a:lnSpc>
              <a:spcAft>
                <a:spcPts val="1500"/>
              </a:spcAft>
              <a:defRPr sz="1300" b="1">
                <a:solidFill>
                  <a:srgbClr val="EA580C"/>
                </a:solidFill>
                <a:latin typeface="Arial"/>
              </a:defRPr>
            </a:pPr>
            <a:r>
              <a:t>✗ Gejala 3: Angka pencapaian OEE dan grafik visualisasi downtime bernilai NaN atau kosong.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D9488"/>
                </a:solidFill>
                <a:latin typeface="Arial"/>
              </a:defRPr>
            </a:pPr>
            <a:r>
              <a:t>Solusi Penanganan Masalah Lapangan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250">
                <a:solidFill>
                  <a:srgbClr val="1E293B"/>
                </a:solidFill>
                <a:latin typeface="Arial"/>
              </a:defRPr>
            </a:pPr>
            <a:r>
              <a:t>✓ Solusi 1: Pastikan kursor input (focus) sedang aktif di kotak teks scanner pada tablet stasiun perakitan operator, dan Wi-Fi tablet dalam kondisi terhubung internet pabrik.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250">
                <a:solidFill>
                  <a:srgbClr val="1E293B"/>
                </a:solidFill>
                <a:latin typeface="Arial"/>
              </a:defRPr>
            </a:pPr>
            <a:r>
              <a:t>✓ Solusi 2: Pastikan stasiun kerja di stasiun Quality Inspection dan stasiun Order Execution terdaftar menggunakan ID stasiun yang sama persis di database Supabase.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250">
                <a:solidFill>
                  <a:srgbClr val="1E293B"/>
                </a:solidFill>
                <a:latin typeface="Arial"/>
              </a:defRPr>
            </a:pPr>
            <a:r>
              <a:t>✓ Solusi 3: Periksa tabel Station_Activity_History. Pastikan stasiun telah menyelesaikan minimal 1 work order agar kalkulasi rasio kualitas/performance OEE terakumulasi secara utuh.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 b="1">
                <a:solidFill>
                  <a:srgbClr val="0D9488"/>
                </a:solidFill>
                <a:latin typeface="Arial"/>
              </a:defRPr>
            </a:pPr>
            <a:r>
              <a:t>KESIMPULAN: KEUNGGULAN UTAMA MAVI-MES</a:t>
            </a:r>
          </a:p>
          <a:p>
            <a:pPr>
              <a:lnSpc>
                <a:spcPct val="120000"/>
              </a:lnSpc>
              <a:spcAft>
                <a:spcPts val="15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✓ Satu Arsitektur Database Terpadu: Seluruh modul (Gudang, Produksi, Kualitas, Andon) bertukar data secara langsung tanpa perlu integrasi middleware rumit.</a:t>
            </a:r>
          </a:p>
          <a:p>
            <a:pPr>
              <a:lnSpc>
                <a:spcPct val="120000"/>
              </a:lnSpc>
              <a:spcAft>
                <a:spcPts val="15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✓ Proteksi Kesalahan Operasional (Poka-Yoke): Kegagalan kualitas di QMS atau pemicuan status downtime di Andon secara instan memblokir eksekusi perintah kerja di lini produksi.</a:t>
            </a:r>
          </a:p>
          <a:p>
            <a:pPr>
              <a:lnSpc>
                <a:spcPct val="120000"/>
              </a:lnSpc>
              <a:spcAft>
                <a:spcPts val="15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✓ Data Siap Pakai Langsung (Auto-Seed): Instalasi template menyertakan sampel data operasional nyata agar fungsionalitas dan visualisasi langsung terlihat aktif.</a:t>
            </a:r>
          </a:p>
          <a:p>
            <a:pPr>
              <a:lnSpc>
                <a:spcPct val="120000"/>
              </a:lnSpc>
              <a:spcAft>
                <a:spcPts val="15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✓ Kemudahan Kustomisasi Tanpa-Kode (No-Code Scaling): Insinyur lapangan dapat dengan mudah mendesain ulang tata letak, logika widget, dan tabel sesuai kebutuhan spesifik pabrik.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</TotalTime>
  <Words>1996</Words>
  <Application>Microsoft Office PowerPoint</Application>
  <PresentationFormat>Custom</PresentationFormat>
  <Paragraphs>166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Courier New</vt:lpstr>
      <vt:lpstr>Messina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ACER</cp:lastModifiedBy>
  <cp:revision>7</cp:revision>
  <dcterms:created xsi:type="dcterms:W3CDTF">2013-01-27T09:14:16Z</dcterms:created>
  <dcterms:modified xsi:type="dcterms:W3CDTF">2026-05-19T14:15:00Z</dcterms:modified>
  <cp:category/>
</cp:coreProperties>
</file>