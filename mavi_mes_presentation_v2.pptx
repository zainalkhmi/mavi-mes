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SMART FACTORY OPERATIONAL DECK</a:t>
            </a:r>
          </a:p>
          <a:p>
            <a:pPr algn="l">
              <a:spcAft>
                <a:spcPts val="1000"/>
              </a:spcAft>
              <a:defRPr sz="4400" b="1">
                <a:solidFill>
                  <a:srgbClr val="FFFFFF"/>
                </a:solidFill>
                <a:latin typeface="Arial"/>
              </a:defRPr>
            </a:pPr>
            <a:r>
              <a:t>Mavi-MES: Composable Application Suites</a:t>
            </a:r>
          </a:p>
          <a:p>
            <a:pPr algn="l">
              <a:defRPr sz="1800">
                <a:solidFill>
                  <a:srgbClr val="F0F9FF"/>
                </a:solidFill>
                <a:latin typeface="Arial"/>
              </a:defRPr>
            </a:pPr>
            <a:r>
              <a:t>End-to-End Operational Guide connecting Warehouse Ingestion, Production Execution, Andon Escalations, QMS Inspections, and OEE Leadership Analytics.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MAVI-MES COMPOSABLE SUITE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Digital Transformation: The Four Operational Pillars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D9488"/>
                </a:solidFill>
                <a:latin typeface="Arial"/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Gudang &amp; Logistik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  <a:latin typeface="Arial"/>
              </a:defRPr>
            </a:pPr>
            <a:r>
              <a:t>Mengotomatiskan penerimaan barang, pergerakan bin inventaris, dan siklus loop Kanban untuk mengeliminasi downtime kekurangan material.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D9488"/>
                </a:solidFill>
                <a:latin typeface="Arial"/>
              </a:defRPr>
            </a:pPr>
            <a:r>
              <a:t>02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Eksekusi Lini Produksi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  <a:latin typeface="Arial"/>
              </a:defRPr>
            </a:pPr>
            <a:r>
              <a:t>Mengarahkan operator melalui instruksi kerja digital terintegrasi, melacak OEE secara real-time, dan menghentikan stasiun saat Andon downtime.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D9488"/>
                </a:solidFill>
                <a:latin typeface="Arial"/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Frontline QMS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  <a:latin typeface="Arial"/>
              </a:defRPr>
            </a:pPr>
            <a:r>
              <a:t>Menstandardisasi pengujian spesifikasi dan visual kontrol, mengisolasi defect instan di papan MRB, serta merancang tindakan korektif CAPA.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2011680"/>
            <a:ext cx="2468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0D9488"/>
                </a:solidFill>
                <a:latin typeface="Arial"/>
              </a:defRPr>
            </a:pPr>
            <a:r>
              <a:t>04</a:t>
            </a:r>
          </a:p>
          <a:p>
            <a:pPr>
              <a:spcAft>
                <a:spcPts val="1000"/>
              </a:spcAft>
              <a:defRPr sz="1800" b="1">
                <a:solidFill>
                  <a:srgbClr val="0F172A"/>
                </a:solidFill>
                <a:latin typeface="Arial"/>
              </a:defRPr>
            </a:pPr>
            <a:r>
              <a:t>Analitik Manajemen</a:t>
            </a:r>
          </a:p>
          <a:p>
            <a:pPr>
              <a:lnSpc>
                <a:spcPct val="130000"/>
              </a:lnSpc>
              <a:defRPr sz="1300">
                <a:solidFill>
                  <a:srgbClr val="1E293B"/>
                </a:solidFill>
                <a:latin typeface="Arial"/>
              </a:defRPr>
            </a:pPr>
            <a:r>
              <a:t>Menyajikan wawasan data terpadu untuk efisiensi siklus pemenuhan bahan baku, distribusi downtime, dan tingkat mutu langsung bagi pimpinan.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1: WAREHOUSE &amp;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1. Alur Masuk &amp; Manajemen Gudang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Mengintegrasikan Penerimaan ke Penyimpanan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Material Loading &amp; Receiving: Operator dermaga memindai material baru, mencatat lot, status, serta memasukkannya ke database supabse.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Material Warehouse: Petugas stockroom memindahkan barang masuk ke rak penyimpanan tetap, memperbarui data bin secara real-time.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Inventory Management: Menyediakan dasbor administrasi pusat untuk melihat kuantitas di setiap bin, mendefinisikan part baru, dan mengaktifkan kartu Kanban.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ARSITEKTUR DATA &amp; INSTALASI</a:t>
            </a:r>
          </a:p>
          <a:p>
            <a:pPr>
              <a:spcAft>
                <a:spcPts val="1500"/>
              </a:spcAft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Tabel Database Terhubung:</a:t>
            </a:r>
            <a:br/>
            <a:r>
              <a:t>• Inventory_Items: Menyimpan kuantitas, lokasi, UoM, dan status barang.</a:t>
            </a:r>
            <a:br/>
            <a:r>
              <a:t>• Material_Definitions: Master spesifikasi part (nama, revisi, lead time).</a:t>
            </a:r>
          </a:p>
          <a:p>
            <a:pPr>
              <a:lnSpc>
                <a:spcPct val="120000"/>
              </a:lnSpc>
              <a:defRPr sz="1300">
                <a:solidFill>
                  <a:srgbClr val="64748B"/>
                </a:solidFill>
                <a:latin typeface="Arial"/>
              </a:defRPr>
            </a:pPr>
            <a:r>
              <a:t>💡 Auto-Seed Highlight:</a:t>
            </a:r>
            <a:br/>
            <a:r>
              <a:t>Saat diinstal, sistem otomatis memasukkan 45 pcs unit silinder aktuator (DEMO-CYL-A1) ke lokasi BIN-12 Rack A agar dasbor langsung terisi data visual.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1: WAREHOUSE &amp;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2. Alur Pengisian Bahan Baku di Shopfloor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Siklus Kanban Tertutup untuk Kelancaran Lini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Material Request App: Operator memindai bin kosong saat bahan baku menipis, memicu order pemenuhan otomatis di database.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Replenishment App: Bertindak sebagai terminal mini-warehouse untuk menampilkan daftar pesanan pengisian stok aktif berdasarkan prioritas FIFO.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Material Handling App: Memberikan panduan picking terpadu dan peta rute antar stasiun bagi petugas logistik (Water Spider).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SINKRONISASI KANBAN LOOP</a:t>
            </a:r>
          </a:p>
          <a:p>
            <a:pPr>
              <a:spcAft>
                <a:spcPts val="1500"/>
              </a:spcAft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Tabel Database Terhubung:</a:t>
            </a:r>
            <a:br/>
            <a:r>
              <a:t>• Material_Requests: Mengoordinasikan status PENDING, IN PROGRESS, hingga COMPLETED.</a:t>
            </a:r>
            <a:br/>
            <a:r>
              <a:t>• Kanban_Cards: Mengontrol status bin FULL atau EMPTY.</a:t>
            </a:r>
          </a:p>
          <a:p>
            <a:pPr>
              <a:lnSpc>
                <a:spcPct val="120000"/>
              </a:lnSpc>
              <a:defRPr sz="1300">
                <a:solidFill>
                  <a:srgbClr val="64748B"/>
                </a:solidFill>
                <a:latin typeface="Arial"/>
              </a:defRPr>
            </a:pPr>
            <a:r>
              <a:t>💡 Auto-Seed Highlight:</a:t>
            </a:r>
            <a:br/>
            <a:r>
              <a:t>Data default diisi pesanan aktif silinder aktuator (10 unit, PENDING, stasiun 1) dan fasteners M6 (200 unit, IN PROGRESS, stasiun 2) untuk demonstrasi loop tangkas.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2: PRODUCTION LINE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3. Eksekusi Produksi &amp; Alur Downtime Andon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Menjaga Kualitas &amp; Menghentikan Downtime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Order Execution App: Memuat daftar perintah kerja aktif, menuntun langkah perakitan, dan mencatat unit hasil kerja ke database secara terpadu.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Andon Terminal App: Memberdayakan operator untuk langsung melaporkan kendala kritis, membekukan stasiun (Status: DOWN) demi mencegah cacat perakitan.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Andon Management App: Menyediakan dasbor pusat bagi supervisor untuk menunjuk penanggung jawab masalah dan membuka kembali stasiun kerja.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KONTROL DAN PROTEKSI LINI</a:t>
            </a:r>
          </a:p>
          <a:p>
            <a:pPr>
              <a:spcAft>
                <a:spcPts val="1500"/>
              </a:spcAft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Tabel Database Terhubung:</a:t>
            </a:r>
            <a:br/>
            <a:r>
              <a:t>• Work_Orders: Menyimpan status RELEASED, IN PROGRESS, hingga SHIPPED.</a:t>
            </a:r>
            <a:br/>
            <a:r>
              <a:t>• Actions: Tiket laporan masalah Andon aktif.</a:t>
            </a:r>
            <a:br/>
            <a:r>
              <a:t>• Stations: Pemantau status stasiun (RUNNING/DOWN).</a:t>
            </a:r>
          </a:p>
          <a:p>
            <a:pPr>
              <a:lnSpc>
                <a:spcPct val="120000"/>
              </a:lnSpc>
              <a:defRPr sz="1300">
                <a:solidFill>
                  <a:srgbClr val="64748B"/>
                </a:solidFill>
                <a:latin typeface="Arial"/>
              </a:defRPr>
            </a:pPr>
            <a:r>
              <a:t>💡 Auto-Seed Highlight:</a:t>
            </a:r>
            <a:br/>
            <a:r>
              <a:t>Tabel stasiun langsung terisi data stasiun aktif berserta durasi downtime untuk kalkulasi Overall Equipment Effectiveness (OEE).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3: FRONTLINE QUALITY (QMS)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4. Frontline Quality (QMS) &amp; Inspeksi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Menjamin Mutu &amp; Tindakan Korektif (CAPA)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Quality Inspection Suite: Uji mutu produk di stasiun perakitan, memeriksa ukuran numerik atau mencocokkan titik kelurusan kelonggaran aktuator silinder.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Frontline QMS App (MRB): Menyediakan panel disposisi dewan kualitas. Operator menunjuk status scrap (buang), rework (perbaiki), atau use-as-is.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CAPA Incident Architect: Penulisan tindakan pencegahan formal terintegrasi, mempermudah pelacakan investigasi 5-Why langsung di lapangan.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PENJAMINAN MUTU TERTUTUP</a:t>
            </a:r>
          </a:p>
          <a:p>
            <a:pPr>
              <a:spcAft>
                <a:spcPts val="1500"/>
              </a:spcAft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Tabel Database Terhubung:</a:t>
            </a:r>
            <a:br/>
            <a:r>
              <a:t>• Inspection_Plans: Uji spek dinamis.</a:t>
            </a:r>
            <a:br/>
            <a:r>
              <a:t>• Defect_Events: Registrasi deviasi unit gagal uji.</a:t>
            </a:r>
            <a:br/>
            <a:r>
              <a:t>• CAPA_Incidents: Solusi rekayasa mutu permanen.</a:t>
            </a:r>
          </a:p>
          <a:p>
            <a:pPr>
              <a:lnSpc>
                <a:spcPct val="120000"/>
              </a:lnSpc>
              <a:defRPr sz="1300">
                <a:solidFill>
                  <a:srgbClr val="64748B"/>
                </a:solidFill>
                <a:latin typeface="Arial"/>
              </a:defRPr>
            </a:pPr>
            <a:r>
              <a:t>💡 Auto-Seed Highlight:</a:t>
            </a:r>
            <a:br/>
            <a:r>
              <a:t>Tabel defect terisi contoh riil gagal uji silinder aktuator PU-58130425022025 lengkap dengan alasan kegagalan kelurusan untuk simulasi alur penanganan deviasi kualitas.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4: OPERATIONS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5. Dasbor Analitik OEE &amp; Kinerja Pabrik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Wawasan Real-Time untuk Keputusan Tepat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Inventory Dashboard: Memantau durasi penyelesaian loop pengisian material, membantu optimasi logistik tangkas pabrik.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Operations Management Dashboard: Mengonsolidasikan OEE stasiun kerja secara langsung, grafik volume produksi per jam, dan rasio kualitas.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Downtime &amp; Defect Analytics: Memetakan sebaran penyebab terhentinya produksi (Andon) dan pola defect kualitas terbanyak.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82880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D9488"/>
                </a:solidFill>
                <a:latin typeface="Arial"/>
              </a:defRPr>
            </a:pPr>
            <a:r>
              <a:t>OPTIMASI PROSES PABRIK</a:t>
            </a:r>
          </a:p>
          <a:p>
            <a:pPr>
              <a:spcAft>
                <a:spcPts val="1500"/>
              </a:spcAft>
              <a:defRPr sz="1200" b="1">
                <a:solidFill>
                  <a:srgbClr val="0F172A"/>
                </a:solidFill>
                <a:latin typeface="Courier New"/>
              </a:defRPr>
            </a:pPr>
            <a:r>
              <a:t>Sumber Data Analitik Terpadu:</a:t>
            </a:r>
            <a:br/>
            <a:r>
              <a:t>• Station_Activity_History: Sejarah waktu jalan/downtime mesin.</a:t>
            </a:r>
            <a:br/>
            <a:r>
              <a:t>• Material_Requests: Durasi loop replenishment.</a:t>
            </a:r>
            <a:br/>
            <a:r>
              <a:t>• Production_Counts: Metrik volume per shift.</a:t>
            </a:r>
          </a:p>
          <a:p>
            <a:pPr>
              <a:defRPr sz="1300">
                <a:latin typeface="Arial"/>
              </a:defRPr>
            </a:pPr>
            <a:r>
              <a:t>💡 Value Creation:</a:t>
            </a:r>
            <a:br/>
            <a:r>
              <a:t>Manajer dapat mengidentifikasi stasiun dengan downtime tertinggi dan membandingkannya dengan deviasi QMS aktif untuk perbaikan berkelanjutan (Kaizen).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5: DEPLOYMENT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Urutan Instalasi &amp; Panduan Dependensi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377440" cy="420624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LANGKAH 01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INVENTORY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50" b="1">
                <a:solidFill>
                  <a:srgbClr val="0F172A"/>
                </a:solidFill>
                <a:latin typeface="Arial"/>
              </a:defRPr>
            </a:pPr>
            <a:r>
              <a:t>App Store Templates:</a:t>
            </a:r>
            <a:br/>
            <a:r>
              <a:t>• Material Warehouse</a:t>
            </a:r>
            <a:br/>
            <a:r>
              <a:t>• Inventory App Suite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Fungsi:</a:t>
            </a:r>
            <a:br/>
            <a:r>
              <a:t>Membangun tabel fondasi 'Inventory_Items' &amp; 'Material_Definitions'.</a:t>
            </a:r>
          </a:p>
          <a:p>
            <a:pPr>
              <a:lnSpc>
                <a:spcPct val="110000"/>
              </a:lnSpc>
              <a:defRPr sz="1000" b="1">
                <a:solidFill>
                  <a:srgbClr val="0D9488"/>
                </a:solidFill>
                <a:latin typeface="Arial"/>
              </a:defRPr>
            </a:pPr>
            <a:r>
              <a:t>💡 Langkah Verifikasi:</a:t>
            </a:r>
            <a:br/>
            <a:r>
              <a:t>Buka Material Warehouse App. Pastikan dummy unit 'DEMO-CYL-A1' muncul di Rak BIN-12.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00400" y="402336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0" y="2011680"/>
            <a:ext cx="2377440" cy="420624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LANGKAH 02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PRODUCTION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50" b="1">
                <a:solidFill>
                  <a:srgbClr val="0F172A"/>
                </a:solidFill>
                <a:latin typeface="Arial"/>
              </a:defRPr>
            </a:pPr>
            <a:r>
              <a:t>App Store Templates:</a:t>
            </a:r>
            <a:br/>
            <a:r>
              <a:t>• Composable MES</a:t>
            </a:r>
            <a:br/>
            <a:r>
              <a:t>• Andon Terminal</a:t>
            </a:r>
            <a:br/>
            <a:r>
              <a:t>• Andon Management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Fungsi:</a:t>
            </a:r>
            <a:br/>
            <a:r>
              <a:t>Menghubungkan perakitan &amp; downtime stasiun kerja yang memotong stok.</a:t>
            </a:r>
          </a:p>
          <a:p>
            <a:pPr>
              <a:lnSpc>
                <a:spcPct val="110000"/>
              </a:lnSpc>
              <a:defRPr sz="1000" b="1">
                <a:solidFill>
                  <a:srgbClr val="0D9488"/>
                </a:solidFill>
                <a:latin typeface="Arial"/>
              </a:defRPr>
            </a:pPr>
            <a:r>
              <a:t>💡 Langkah Verifikasi:</a:t>
            </a:r>
            <a:br/>
            <a:r>
              <a:t>Picu downtime stasiun, pastikan status stasiun DOWN terupdate real-time.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126480" y="402336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0" y="2011680"/>
            <a:ext cx="2377440" cy="420624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97706"/>
                </a:solidFill>
                <a:latin typeface="Arial"/>
              </a:defRPr>
            </a:pPr>
            <a:r>
              <a:t>LANGKAH 03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QUALITY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50" b="1">
                <a:solidFill>
                  <a:srgbClr val="0F172A"/>
                </a:solidFill>
                <a:latin typeface="Arial"/>
              </a:defRPr>
            </a:pPr>
            <a:r>
              <a:t>App Store Templates:</a:t>
            </a:r>
            <a:br/>
            <a:r>
              <a:t>• Quality Inspection</a:t>
            </a:r>
            <a:br/>
            <a:r>
              <a:t>• Frontline QMS App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Fungsi:</a:t>
            </a:r>
            <a:br/>
            <a:r>
              <a:t>Mengevaluasi hasil lini &amp; menyalurkan defect perakitan ke papan MRB.</a:t>
            </a:r>
          </a:p>
          <a:p>
            <a:pPr>
              <a:lnSpc>
                <a:spcPct val="110000"/>
              </a:lnSpc>
              <a:defRPr sz="1000" b="1">
                <a:solidFill>
                  <a:srgbClr val="0D9488"/>
                </a:solidFill>
                <a:latin typeface="Arial"/>
              </a:defRPr>
            </a:pPr>
            <a:r>
              <a:t>💡 Langkah Verifikasi:</a:t>
            </a:r>
            <a:br/>
            <a:r>
              <a:t>Jalankan uji mutu, masukkan kegagalan, pastikan defect terdaftar instan ke MRB.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52560" y="402336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509760" y="2011680"/>
            <a:ext cx="2377440" cy="4206240"/>
          </a:xfrm>
          <a:prstGeom prst="roundRect">
            <a:avLst/>
          </a:prstGeom>
          <a:solidFill>
            <a:srgbClr val="F0F9FF"/>
          </a:solidFill>
          <a:ln w="317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7C3AED"/>
                </a:solidFill>
                <a:latin typeface="Arial"/>
              </a:defRPr>
            </a:pPr>
            <a:r>
              <a:t>LANGKAH 04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ANALYTICS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50" b="1">
                <a:solidFill>
                  <a:srgbClr val="0F172A"/>
                </a:solidFill>
                <a:latin typeface="Arial"/>
              </a:defRPr>
            </a:pPr>
            <a:r>
              <a:t>App Store Templates:</a:t>
            </a:r>
            <a:br/>
            <a:r>
              <a:t>• Replenishment App</a:t>
            </a:r>
            <a:br/>
            <a:r>
              <a:t>• Material Handling</a:t>
            </a:r>
            <a:br/>
            <a:r>
              <a:t>• OEE MES Dashboard</a:t>
            </a:r>
          </a:p>
          <a:p>
            <a:pPr>
              <a:lnSpc>
                <a:spcPct val="110000"/>
              </a:lnSpc>
              <a:spcAft>
                <a:spcPts val="8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Fungsi:</a:t>
            </a:r>
            <a:br/>
            <a:r>
              <a:t>Konsolidasi Kanban loop, OEE, &amp; cycle time historis pabrik secara utuh.</a:t>
            </a:r>
          </a:p>
          <a:p>
            <a:pPr>
              <a:lnSpc>
                <a:spcPct val="110000"/>
              </a:lnSpc>
              <a:defRPr sz="1000" b="1">
                <a:solidFill>
                  <a:srgbClr val="0D9488"/>
                </a:solidFill>
                <a:latin typeface="Arial"/>
              </a:defRPr>
            </a:pPr>
            <a:r>
              <a:t>💡 Langkah Verifikasi:</a:t>
            </a:r>
            <a:br/>
            <a:r>
              <a:t>Scan bin kosong, pastikan order baru masuk antrean Water Spider logistik.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Arial"/>
              </a:defRPr>
            </a:pPr>
            <a:r>
              <a:t>PILLAR 6: FACTORY PROCESS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Pemetaan Proses &amp; Diagram Alur Kerja Template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1920240" cy="16459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LANGKAH 1</a:t>
            </a:r>
          </a:p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Material Loading &amp; Warehouse</a:t>
            </a:r>
            <a:br/>
            <a:r>
              <a:t>Registrasi &amp; penempatan material baru ke rak penyimpanan.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43200" y="274320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2011680"/>
            <a:ext cx="1920240" cy="16459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LANGKAH 2</a:t>
            </a:r>
          </a:p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REPLENISH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9319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Material Request &amp; Replenishment</a:t>
            </a:r>
            <a:br/>
            <a:r>
              <a:t>Pemicuan loop Kanban saat bin perakitan di lini habis.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029200" y="274320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03520" y="2011680"/>
            <a:ext cx="1920240" cy="16459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LANGKAH 3</a:t>
            </a:r>
          </a:p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EXECUTE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39319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Order Execution &amp; Andon Terminal</a:t>
            </a:r>
            <a:br/>
            <a:r>
              <a:t>Instruksi perakitan operator &amp; pemicuan downtime terintegrasi.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315200" y="274320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89520" y="2011680"/>
            <a:ext cx="1920240" cy="16459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D97706"/>
                </a:solidFill>
                <a:latin typeface="Arial"/>
              </a:defRPr>
            </a:pPr>
            <a:r>
              <a:t>LANGKAH 4</a:t>
            </a:r>
          </a:p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39319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Quality Inspection &amp; Frontline QMS</a:t>
            </a:r>
            <a:br/>
            <a:r>
              <a:t>Uji toleransi produk perakitan &amp; disposisi cacat (MRB).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601200" y="2743200"/>
            <a:ext cx="182880" cy="1828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75520" y="2011680"/>
            <a:ext cx="1920240" cy="16459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7C3AED"/>
                </a:solidFill>
                <a:latin typeface="Arial"/>
              </a:defRPr>
            </a:pPr>
            <a:r>
              <a:t>LANGKAH 5</a:t>
            </a:r>
          </a:p>
          <a:p>
            <a:pPr algn="ctr">
              <a:defRPr sz="1600" b="1">
                <a:solidFill>
                  <a:srgbClr val="0F172A"/>
                </a:solidFill>
                <a:latin typeface="Arial"/>
              </a:defRPr>
            </a:pPr>
            <a:r>
              <a:t>ANALYZE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9319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1100">
                <a:solidFill>
                  <a:srgbClr val="1E293B"/>
                </a:solidFill>
                <a:latin typeface="Arial"/>
              </a:defRPr>
            </a:pPr>
            <a:r>
              <a:t>Dashboard OEE &amp; Analytics</a:t>
            </a:r>
            <a:br/>
            <a:r>
              <a:t>Konsolidasi pencapaian target per jam, OEE, &amp; cycle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0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000" b="1">
                <a:solidFill>
                  <a:srgbClr val="0D9488"/>
                </a:solidFill>
                <a:latin typeface="Arial"/>
              </a:defRPr>
            </a:pPr>
            <a:r>
              <a:t>KESIMPULAN: KEUNGGULAN UTAMA MAVI-MES</a:t>
            </a:r>
          </a:p>
          <a:p>
            <a:pPr>
              <a:lnSpc>
                <a:spcPct val="120000"/>
              </a:lnSpc>
              <a:spcAft>
                <a:spcPts val="15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✓ Satu Arsitektur Database Terpadu: Seluruh modul (Gudang, Produksi, Kualitas, Andon) bertukar data secara langsung tanpa perlu integrasi middleware rumit.</a:t>
            </a:r>
          </a:p>
          <a:p>
            <a:pPr>
              <a:lnSpc>
                <a:spcPct val="120000"/>
              </a:lnSpc>
              <a:spcAft>
                <a:spcPts val="15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✓ Proteksi Kesalahan Operasional (Poka-Yoke): Kegagalan kualitas di QMS atau pemicuan status downtime di Andon secara instan memblokir eksekusi perintah kerja di lini produksi.</a:t>
            </a:r>
          </a:p>
          <a:p>
            <a:pPr>
              <a:lnSpc>
                <a:spcPct val="120000"/>
              </a:lnSpc>
              <a:spcAft>
                <a:spcPts val="15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✓ Data Siap Pakai Langsung (Auto-Seed): Instalasi template menyertakan sampel data operasional nyata agar fungsionalitas dan visualisasi langsung terlihat aktif.</a:t>
            </a:r>
          </a:p>
          <a:p>
            <a:pPr>
              <a:lnSpc>
                <a:spcPct val="120000"/>
              </a:lnSpc>
              <a:spcAft>
                <a:spcPts val="15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✓ Kemudahan Kustomisasi Tanpa-Kode (No-Code Scaling): Insinyur lapangan dapat dengan mudah mendesain ulang tata letak, logika widget, dan tabel sesuai kebutuhan spesifik pabrik.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